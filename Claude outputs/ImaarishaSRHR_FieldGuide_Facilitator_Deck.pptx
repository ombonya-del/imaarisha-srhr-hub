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manual teaches you to run the Field Guide with a group. The guide teaches through people we come to know; this manual teaches you to hold the room while they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resource in one page: eight modules, two tracks. Everything is drawn from a triangulated Phase 1 evidence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audiences; you, the master trainer, cascade to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non-negotiables. They come straight from the evidence on what changes minds — and the guide’s commitment that no one in the family is a villain.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module runs the same five beats. This is the single most useful thing to teach a new facilitator.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guide cascades: master trainers → facilitators → champions and peers.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groups small (12–16), keep devices in the room, and make everyone facilitate at least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Prompts, not scripts — the words should be yours. Each module: the scene, the point, the tool, the no-device version, and the pitfall.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Prompts, not scripts — the words should be yours. Each module: the scene, the point, the tool, the no-device version, and the pitfall.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Prompts, not scripts — the words should be yours. Each module: the scene, the point, the tool, the no-device version, and the pitfall.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Prompts, not scripts — the words should be yours. Each module: the scene, the point, the tool, the no-device version, and the pitfall.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Recruit for standing and openness, not seniority. An admin of a family WhatsApp group already holds a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weekly sessions move a cohort of aunties from gatekeepers to champions.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don’t need a research team. Record change as stories — one aunty’s account becomes the next session’s opening scene.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stance in one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you have one day, not a full ToT. Pre-session checklist: app installed &amp; tested offline, printed job-aids, one real message to reframe, a way to capture commitments, the cast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here. The method is the 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arisha/assets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84415"/>
            <a:ext cx="822960" cy="70005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54480" y="93268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Imaarisha</a:t>
            </a:r>
            <a:pPr indent="0" marL="0">
              <a:buNone/>
            </a:pPr>
            <a:r>
              <a:rPr lang="en-US" sz="2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SRHR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246888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FACILITATOR &amp; TRAINING-OF-TRAINERS MANUAL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2880360"/>
            <a:ext cx="110002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
</a:t>
            </a:r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9FD3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 Guide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47548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Strategic Comms &amp; Reframing toolkit — in a workshop, a community session, or a training of trainers.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617220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Media Trust (CoMeT)  ·  imaarishasrhr.org  ·  #ImaarishaSRHR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Field Guide is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11000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toolkit, built around the Achieng family, delivered as a living resource — not a document you read once and shelve.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46888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5468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strategy modules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system, disinformation, culture &amp; patriarchy, reframing, what works, the operating system, and the Mother &amp; Aunty frontier.
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full Mother &amp; Aunty facilitator curriculum.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Each module ends in one working tool.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46888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7EFD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2940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TRACKS, ONE SOURCE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315468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app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installable, works offline, on phone or desktop — for interactive use.
</a:t>
            </a:r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one-page job-aids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QR codes that bridge paper back to the tools and audio — so it works in a clinic with no data as well as on a phone.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61722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need to master the evidence — run the scenes and the tools, and let the family carry the argument.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facilitates, and who it is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10002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185416"/>
            <a:ext cx="475488" cy="475488"/>
          </a:xfrm>
          <a:prstGeom prst="ellipse">
            <a:avLst/>
          </a:prstGeom>
          <a:solidFill>
            <a:srgbClr val="EAF2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2185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09397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SRHR organisations &amp; staff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075688"/>
            <a:ext cx="5605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modules as team training: the evidence, the framework, and a tool each person runs in a real campaign.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3017520"/>
            <a:ext cx="110002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0392" y="3236976"/>
            <a:ext cx="475488" cy="475488"/>
          </a:xfrm>
          <a:prstGeom prst="ellipse">
            <a:avLst/>
          </a:prstGeom>
          <a:solidFill>
            <a:srgbClr val="EAF2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0392" y="3236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14553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Mobilisers, CHPs, peer educators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715000" y="3127248"/>
            <a:ext cx="5605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scenes and tools for group sessions; the Mother &amp; Aunty curriculum for working with older women.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069080"/>
            <a:ext cx="110002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" y="4288536"/>
            <a:ext cx="475488" cy="475488"/>
          </a:xfrm>
          <a:prstGeom prst="ellipse">
            <a:avLst/>
          </a:prstGeom>
          <a:solidFill>
            <a:srgbClr val="EAF2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" y="4288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👵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19709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 aunties &amp; faith allies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4178808"/>
            <a:ext cx="5605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Mother &amp; Aunty field cards — a script they can carry into the kitchen and the WhatsApp group.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5120640"/>
            <a:ext cx="11000232" cy="914400"/>
          </a:xfrm>
          <a:prstGeom prst="roundRect">
            <a:avLst>
              <a:gd name="adj" fmla="val 10000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0392" y="5340096"/>
            <a:ext cx="475488" cy="475488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0392" y="5340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24865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trainers (this manual’s reader)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5230368"/>
            <a:ext cx="5605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cascade all of the above to new facilitators through a training of trainers.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FACILITATOR’S STANCE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principles that hold the room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1723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4884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shame the messenger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51176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Beth, Silas and Tom act from love. The arc is conversion, not blame.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7356" y="1965960"/>
            <a:ext cx="531723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1676" y="2331720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1676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191756" y="214884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 through people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91756" y="2551176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 the scene before the framework. Let the room meet the person first.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3337560"/>
            <a:ext cx="531723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52044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a held value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922776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family, provision — arrive at rights from there.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77356" y="3337560"/>
            <a:ext cx="5317236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1676" y="3703320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51676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91756" y="3520440"/>
            <a:ext cx="4219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Replace, don’t just remove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191756" y="3922776"/>
            <a:ext cx="42199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retired line needs a new one to carry in its place.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94360" y="4709160"/>
            <a:ext cx="11000232" cy="1188720"/>
          </a:xfrm>
          <a:prstGeom prst="roundRect">
            <a:avLst>
              <a:gd name="adj" fmla="val 7692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4400" y="5074920"/>
            <a:ext cx="457200" cy="457200"/>
          </a:xfrm>
          <a:prstGeom prst="ellipse">
            <a:avLst/>
          </a:prstGeom>
          <a:solidFill>
            <a:srgbClr val="B9873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4892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safe to be uncertain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31266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are to think with, not to test people.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session rhythm — every module, five beats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1907438" cy="3200400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9479" y="2514600"/>
            <a:ext cx="457200" cy="457200"/>
          </a:xfrm>
          <a:prstGeom prst="ellipse">
            <a:avLst/>
          </a:prstGeom>
          <a:solidFill>
            <a:srgbClr val="B987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19479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310896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Arrive on the scene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3931920"/>
            <a:ext cx="16514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aloud; “who recognises this?”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4956048"/>
            <a:ext cx="16879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67558" y="2194560"/>
            <a:ext cx="1907438" cy="3200400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92678" y="2514600"/>
            <a:ext cx="457200" cy="457200"/>
          </a:xfrm>
          <a:prstGeom prst="ellipse">
            <a:avLst/>
          </a:prstGeom>
          <a:solidFill>
            <a:srgbClr val="B987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9267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77286" y="310896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the idea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95574" y="3931920"/>
            <a:ext cx="16514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 out, then show 2–3 figures.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77286" y="4956048"/>
            <a:ext cx="16879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40757" y="2194560"/>
            <a:ext cx="1907438" cy="3200400"/>
          </a:xfrm>
          <a:prstGeom prst="roundRect">
            <a:avLst>
              <a:gd name="adj" fmla="val 4794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65876" y="2514600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65876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50485" y="310896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tool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68773" y="3931920"/>
            <a:ext cx="16514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together, live.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50485" y="4956048"/>
            <a:ext cx="16879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13955" y="2194560"/>
            <a:ext cx="1907438" cy="3200400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9074" y="2514600"/>
            <a:ext cx="457200" cy="457200"/>
          </a:xfrm>
          <a:prstGeom prst="ellipse">
            <a:avLst/>
          </a:prstGeom>
          <a:solidFill>
            <a:srgbClr val="B987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13907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23683" y="310896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Practise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541971" y="3931920"/>
            <a:ext cx="16514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it to their own case.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23683" y="4956048"/>
            <a:ext cx="16879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87154" y="2194560"/>
            <a:ext cx="1907438" cy="3200400"/>
          </a:xfrm>
          <a:prstGeom prst="roundRect">
            <a:avLst>
              <a:gd name="adj" fmla="val 479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12273" y="2514600"/>
            <a:ext cx="457200" cy="457200"/>
          </a:xfrm>
          <a:prstGeom prst="ellipse">
            <a:avLst/>
          </a:prstGeom>
          <a:solidFill>
            <a:srgbClr val="B9873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412273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96882" y="3108960"/>
            <a:ext cx="16879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815170" y="3931920"/>
            <a:ext cx="165140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names one change; capture it.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796882" y="4956048"/>
            <a:ext cx="16879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4360" y="576072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this rhythm once and you can facilitate any module — and teach others to.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of trainers — three tiers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100023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8541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trainer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17720" y="21854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ToT (you).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2185416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 facilitators; adapt sessions; hold quality.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1100023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703320"/>
            <a:ext cx="457200" cy="457200"/>
          </a:xfrm>
          <a:prstGeom prst="ellipse">
            <a:avLst/>
          </a:prstGeom>
          <a:solidFill>
            <a:srgbClr val="B987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55701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Facilitator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5570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staff, mobilisers, peers.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557016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 module with a group; recruit champion aunties.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709160"/>
            <a:ext cx="1100023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074920"/>
            <a:ext cx="457200" cy="457200"/>
          </a:xfrm>
          <a:prstGeom prst="ellipse">
            <a:avLst/>
          </a:prstGeom>
          <a:solidFill>
            <a:srgbClr val="B447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92861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 / peer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492861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Aunties, creators, faith allies, survivors.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4928616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re-scripted messages through their own trusted channels.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two-day ToT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17236" cy="1234440"/>
          </a:xfrm>
          <a:prstGeom prst="roundRect">
            <a:avLst>
              <a:gd name="adj" fmla="val 7407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AM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32888"/>
            <a:ext cx="4768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family; the two-track guide; the five principles; the session rhythm.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77356" y="1965960"/>
            <a:ext cx="5317236" cy="1234440"/>
          </a:xfrm>
          <a:prstGeom prst="roundRect">
            <a:avLst>
              <a:gd name="adj" fmla="val 7407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51676" y="2148840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1 · PM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51676" y="2532888"/>
            <a:ext cx="4768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1–3 run in full, trainer-led; participants take notes as facilitators.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5317236" cy="1234440"/>
          </a:xfrm>
          <a:prstGeom prst="roundRect">
            <a:avLst>
              <a:gd name="adj" fmla="val 7407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3566160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AM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50208"/>
            <a:ext cx="4768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4–6 and the Mother &amp; Aunty frontier; participants co-facilitate in pairs.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7356" y="3383280"/>
            <a:ext cx="5317236" cy="1234440"/>
          </a:xfrm>
          <a:prstGeom prst="roundRect">
            <a:avLst>
              <a:gd name="adj" fmla="val 7407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51676" y="3566160"/>
            <a:ext cx="47685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2 · PM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51676" y="3950208"/>
            <a:ext cx="47685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M&amp;A curriculum; each runs one module solo (micro-teach); feedback &amp; certification.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5029200"/>
            <a:ext cx="11000232" cy="1234440"/>
          </a:xfrm>
          <a:prstGeom prst="roundRect">
            <a:avLst>
              <a:gd name="adj" fmla="val 7407"/>
            </a:avLst>
          </a:prstGeom>
          <a:solidFill>
            <a:srgbClr val="111827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51937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MICRO-TEACH — THE HEART OF THE ToT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5321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participant runs one module for 20 minutes. Certify them when they can open on a scene, run the tool, and close on a commitment — without shaming anyone.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FLIP-CHART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Facilitation notes, module by module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10002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671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222199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</a:t>
            </a:r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Machine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642616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on:  </a:t>
            </a:r>
            <a:pPr indent="0" marL="0">
              <a:buNone/>
            </a:pPr>
            <a:r>
              <a:rPr lang="en-US" sz="13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Agneta pressed from four sides at once.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990088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one machine — pull one gear, the rest still turn.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33756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devices: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chart: Agneta centre, four forces around her.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65760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split it into four separate problems.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206240"/>
            <a:ext cx="110002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498848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407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Disinformation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446227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</a:t>
            </a:r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tell-tale signs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82896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on:  </a:t>
            </a:r>
            <a:pPr indent="0" marL="0">
              <a:buNone/>
            </a:pPr>
            <a:r>
              <a:rPr lang="en-US" sz="13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“Family planning causes cancer — share before it’s deleted.”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230368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fact-check your way out — prebunk the signals.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57784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devices: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cards: source, authority, fear, urgency — match the words.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589788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debate the myth; name the trick.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FLIP-CHART · CONTINUED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notes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10002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671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 &amp; Patriarchy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222199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</a:t>
            </a:r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her decision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642616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on:  </a:t>
            </a:r>
            <a:pPr indent="0" marL="0">
              <a:buNone/>
            </a:pPr>
            <a:r>
              <a:rPr lang="en-US" sz="13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finds Grace’s hidden pills.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990088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the cost of her decision, don’t shame the man.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33756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devices: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supports on cards: “easier for her to choose now?”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65760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make the men the enemy.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206240"/>
            <a:ext cx="110002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498848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407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Reframing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446227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</a:t>
            </a:r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Reframing Worksheet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82896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on:  </a:t>
            </a:r>
            <a:pPr indent="0" marL="0">
              <a:buNone/>
            </a:pPr>
            <a:r>
              <a:rPr lang="en-US" sz="13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facts, rebuilt for Tom and for Beth.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230368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beats the fact; health is the entry, rights the destination.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57784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devices: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boxes on paper: Value · Bridge · Fact · Messenger · Ask.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589788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skip the messenger.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FLIP-CHART · CONTINUED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notes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10002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671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222199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</a:t>
            </a:r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&amp; messenger matrix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642616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on:  </a:t>
            </a:r>
            <a:pPr indent="0" marL="0">
              <a:buNone/>
            </a:pPr>
            <a:r>
              <a:rPr lang="en-US" sz="13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nurse’s desk, Kevo’s clip, the pastor, Brenda’s story.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990088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channel and messenger to the audience, honestly.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33756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devices: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grid; place real audiences and argue pairings.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65760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default to “make a video.”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206240"/>
            <a:ext cx="110002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498848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407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System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446227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</a:t>
            </a:r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Habits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82896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on:  </a:t>
            </a:r>
            <a:pPr indent="0" marL="0">
              <a:buNone/>
            </a:pPr>
            <a:r>
              <a:rPr lang="en-US" sz="13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guide only works if it becomes routine.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230368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weekly habits, each with an owner.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57784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devices: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poster: mark the baseline, pick the next habit.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589788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leave it abstract — assign owners.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FLIP-CHART · CONTINUED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notes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10002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671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Mother &amp; Aunty · frontier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222199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</a:t>
            </a:r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warning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642616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on:  </a:t>
            </a:r>
            <a:pPr indent="0" marL="0">
              <a:buNone/>
            </a:pPr>
            <a:r>
              <a:rPr lang="en-US" sz="13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Agneta confides; Beth answers “marry by 20.”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990088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Highest-leverage channel carries the most misinformation.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33756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devices: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columns: “what Beth says” / “what Beth could say.”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365760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caricature the aunty.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206240"/>
            <a:ext cx="11000232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498848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440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40740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Mother &amp; Aunty · curriculum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4462272"/>
            <a:ext cx="4233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 </a:t>
            </a:r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 → champion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882896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on:  </a:t>
            </a:r>
            <a:pPr indent="0" marL="0">
              <a:buNone/>
            </a:pPr>
            <a:r>
              <a:rPr lang="en-US" sz="13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certain gatekeeper to family champion.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230368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and move champions along the pathway.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557784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devices: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Aunty + Myth &amp; Fact cards; five weekly sessions.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5897880"/>
            <a:ext cx="9720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 </a:t>
            </a:r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rush the pathway.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HIGHEST-LEVERAGE ROOM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gatekeeper → champion pathway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247573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3629" y="2606040"/>
            <a:ext cx="457200" cy="457200"/>
          </a:xfrm>
          <a:prstGeom prst="ellipse">
            <a:avLst/>
          </a:prstGeom>
          <a:solidFill>
            <a:srgbClr val="B987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3629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00400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Gatekeeper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703320"/>
            <a:ext cx="220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warnings on as settled truth.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088386" y="32461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35858" y="2286000"/>
            <a:ext cx="247573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45127" y="2606040"/>
            <a:ext cx="457200" cy="457200"/>
          </a:xfrm>
          <a:prstGeom prst="ellipse">
            <a:avLst/>
          </a:prstGeom>
          <a:solidFill>
            <a:srgbClr val="B987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45127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7298" y="3200400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Unsettle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573018" y="3703320"/>
            <a:ext cx="220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crack: “my niece’s nurse said different.”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29884" y="32461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77356" y="2286000"/>
            <a:ext cx="2475738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86625" y="2606040"/>
            <a:ext cx="457200" cy="457200"/>
          </a:xfrm>
          <a:prstGeom prst="ellipse">
            <a:avLst/>
          </a:prstGeom>
          <a:solidFill>
            <a:srgbClr val="B987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86625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368796" y="3200400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14516" y="3703320"/>
            <a:ext cx="220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one new line; sees a girl respected, not shamed.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71382" y="324612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18854" y="2286000"/>
            <a:ext cx="2475738" cy="2468880"/>
          </a:xfrm>
          <a:prstGeom prst="roundRect">
            <a:avLst>
              <a:gd name="adj" fmla="val 3704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28123" y="2606040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128123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210294" y="3200400"/>
            <a:ext cx="22928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56014" y="3703320"/>
            <a:ext cx="22014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her advice; walks a girl to the clinic.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5074920"/>
            <a:ext cx="11000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delivering facts to older women — you are recruiting champions who carry re-scripted messages through channels no campaign can reach.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CURRICULUM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Mother &amp; Aunty five sessions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1100023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66544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116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role, and our love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97880" y="2011680"/>
            <a:ext cx="5422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 the participants’ role; surface — without judging — the advice they give.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779776"/>
            <a:ext cx="1100023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26080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8712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were told, and what is true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2871216"/>
            <a:ext cx="5422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clinician: separate the love (right) from the facts (wrong), without shame.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639312"/>
            <a:ext cx="1100023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785616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785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7307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the love, change the facts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3730752"/>
            <a:ext cx="5422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your own warnings into new scripts that still sound like a caring aunty.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" y="4498848"/>
            <a:ext cx="1100023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645152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59028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Carrying it — kitchen and phone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897880" y="4590288"/>
            <a:ext cx="5422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the new scripts face-to-face and in the family WhatsApp group.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5358384"/>
            <a:ext cx="1100023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504688"/>
            <a:ext cx="457200" cy="457200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504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508760" y="544982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Becoming a champion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897880" y="5449824"/>
            <a:ext cx="5422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private change to public championing; the pledge and ongoing support.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FIELD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 by design — and knowing it works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TRACKS TOGETHER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once over wifi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then runs fully offline in the field.
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job-aids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each module folds to one page; M&amp;A to the Champion Aunty and Myth &amp; Fact cards.
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QR bridge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scan on paper opens that exact module or its audio when data returns.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IT IS WORKING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629400" y="2651760"/>
            <a:ext cx="256032" cy="256032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95160" y="2560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adoption —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re-scripted line repeated back, unprompted.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29400" y="3429000"/>
            <a:ext cx="256032" cy="256032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95160" y="3337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shift —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start leading with value, not “rights.”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629400" y="4206240"/>
            <a:ext cx="256032" cy="256032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95160" y="4114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Service-seeking —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champion walks a girl to the clinic.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29400" y="4983480"/>
            <a:ext cx="256032" cy="256032"/>
          </a:xfrm>
          <a:prstGeom prst="ellipse">
            <a:avLst/>
          </a:prstGeom>
          <a:solidFill>
            <a:srgbClr val="2E6B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95160" y="4892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Prebunking reflex —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names the trick before debating the claim.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and don’t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DO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974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 a person and a scene.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a value the room holds.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over a new line for the old one.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tool, then let them practise.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family as future allies.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on a concrete commitment.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4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  DON’T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69748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 a definition or statistic.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“rights,” or with blame.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 belief demolished, empty.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and move 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anyone the villain.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on “any questions?”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9436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98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14400"/>
            <a:ext cx="11000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one-day introductory workshop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11000232" cy="621792"/>
          </a:xfrm>
          <a:prstGeom prst="roundRect">
            <a:avLst>
              <a:gd name="adj" fmla="val 14706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09:00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965960"/>
            <a:ext cx="8988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Achieng family; the two-track guide; the five principles.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651760"/>
            <a:ext cx="1100023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2697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10:00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2697480"/>
            <a:ext cx="8988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(The System) and Module 2 (Disinformation), in full.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1000232" cy="621792"/>
          </a:xfrm>
          <a:prstGeom prst="roundRect">
            <a:avLst>
              <a:gd name="adj" fmla="val 14706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11:30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3429000"/>
            <a:ext cx="8988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(Reframing) — the worksheet on the team’s real messages.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4114800"/>
            <a:ext cx="1100023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68680" y="4160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13:30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4160520"/>
            <a:ext cx="8988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7 &amp; 8 (Mother &amp; Aunty) — the frontier and the pathway.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846320"/>
            <a:ext cx="11000232" cy="621792"/>
          </a:xfrm>
          <a:prstGeom prst="roundRect">
            <a:avLst>
              <a:gd name="adj" fmla="val 14706"/>
            </a:avLst>
          </a:prstGeom>
          <a:solidFill>
            <a:srgbClr val="EAF2ED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4892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15:00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4892040"/>
            <a:ext cx="8988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(Operating System) — assign the five habits to owners.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5577840"/>
            <a:ext cx="11000232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4DCCC"/>
            </a:solidFill>
            <a:prstDash val="solid"/>
          </a:ln>
          <a:effectLst>
            <a:outerShdw sx="100000" sy="100000" kx="0" ky="0" algn="bl" rotWithShape="0" blurRad="114300" dist="38100" dir="5400000">
              <a:srgbClr val="8A8374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5623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16:00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331720" y="5623560"/>
            <a:ext cx="8988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Commitments: each names one change; set the next check-in.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aarisha/assets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31866"/>
            <a:ext cx="731520" cy="62226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94360" y="1828800"/>
            <a:ext cx="11000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2286000"/>
            <a:ext cx="11000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the first trusted messenger the room meets.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34290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8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you hold the family — with respect, patience and belief in their conversion — is the method. Facilitate the guide the way it asks Beth to be treated, and the room will carry it exactly that way to the next.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5212080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9FD3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Respectfully. Relentlessly. Together.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6126480"/>
            <a:ext cx="11000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Media Trust (CoMeT)  ·  imaarishasrhr.org  ·  cmt.kenya@gmail.com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2026-09-16T21:58:04Z</dcterms:created>
  <dcterms:modified xsi:type="dcterms:W3CDTF">2026-09-16T21:58:04Z</dcterms:modified>
</cp:coreProperties>
</file>