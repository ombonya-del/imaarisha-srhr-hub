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9a9299da-c322-5603-be10-c66841368d47}">
          <p14:sldIdLst>
            <p14:sldId id="256"/>
            <p14:sldId id="257"/>
            <p14:sldId id="258"/>
          </p14:sldIdLst>
        </p14:section>
        <p14:section name="For young people" id="{d61744f5-005c-3282-9c86-c7d0aba650c6}">
          <p14:sldIdLst>
            <p14:sldId id="259"/>
            <p14:sldId id="260"/>
            <p14:sldId id="261"/>
          </p14:sldIdLst>
        </p14:section>
        <p14:section name="Content" id="{d883a506-2a15-9dc4-9f28-b031f7ff4dc5}">
          <p14:sldIdLst>
            <p14:sldId id="262"/>
            <p14:sldId id="263"/>
            <p14:sldId id="264"/>
            <p14:sldId id="265"/>
          </p14:sldIdLst>
        </p14:section>
        <p14:section name="For the team" id="{6e5bef56-5a97-06f1-a7db-eae90cee6310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summarises the UkweliSRHR build that responded to the youth test-run feedback. Every one of the 16 feedback points was acted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raised: voice and photo questions, a Mental Health &amp; SRHR topic, and that the app looked generic. Myths, Trending and Learn were well liked.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record — database updates (in order): 20261002120000_ukweli_youth_feedback, 20261002130000_ukweli_photos_facilities, 20261002140000_ukweli_latest, 20261002160000_trending_review (run once). Server functions: turnstile-verify, activity-notify, uliza-draft, radar-scanner. Commits: 6d7ac75, 450f502, 8393aea, 97994b8, 98444c0, 7b07da1, 383e723, 0049689.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UkweliSRHR · build summary ·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arishaSRHR logo" descr="ImaarishaSRHR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51560"/>
            <a:ext cx="1005840" cy="8595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488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Ukweli</a:t>
            </a:r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SRHR</a:t>
            </a:r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what’s new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Changes made after the youth test run · 2–5 October 2026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ImaarishaSRHR · Community Media Trust</a:t>
            </a:r>
            <a:endParaRPr lang="en-US" sz="2000" dirty="0"/>
          </a:p>
        </p:txBody>
      </p:sp>
      <p:sp>
        <p:nvSpPr>
          <p:cNvPr id="5" name="Catch the Latest screen frame"/>
          <p:cNvSpPr/>
          <p:nvPr/>
        </p:nvSpPr>
        <p:spPr>
          <a:xfrm>
            <a:off x="8814816" y="630936"/>
            <a:ext cx="2644913" cy="5596128"/>
          </a:xfrm>
          <a:prstGeom prst="roundRect">
            <a:avLst>
              <a:gd name="adj" fmla="val 414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Catch the Latest screen" descr="Catch the Latest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685800"/>
            <a:ext cx="253518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point young people raised was acted on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63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1"/>
          <p:cNvSpPr txBox="1"/>
          <p:nvPr/>
        </p:nvSpPr>
        <p:spPr>
          <a:xfrm>
            <a:off x="822960" y="1691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5" name="stat label 1"/>
          <p:cNvSpPr txBox="1"/>
          <p:nvPr/>
        </p:nvSpPr>
        <p:spPr>
          <a:xfrm>
            <a:off x="822960" y="2697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feedback points acted on</a:t>
            </a:r>
            <a:endParaRPr lang="en-US" sz="1500" dirty="0"/>
          </a:p>
        </p:txBody>
      </p:sp>
      <p:sp>
        <p:nvSpPr>
          <p:cNvPr id="6" name="stat card 2"/>
          <p:cNvSpPr/>
          <p:nvPr/>
        </p:nvSpPr>
        <p:spPr>
          <a:xfrm>
            <a:off x="3364992" y="1463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2"/>
          <p:cNvSpPr txBox="1"/>
          <p:nvPr/>
        </p:nvSpPr>
        <p:spPr>
          <a:xfrm>
            <a:off x="3639312" y="1691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8" name="stat label 2"/>
          <p:cNvSpPr txBox="1"/>
          <p:nvPr/>
        </p:nvSpPr>
        <p:spPr>
          <a:xfrm>
            <a:off x="3639312" y="2697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“Catch the Latest” updates in English and Kiswahili</a:t>
            </a:r>
            <a:endParaRPr lang="en-US" sz="1500" dirty="0"/>
          </a:p>
        </p:txBody>
      </p:sp>
      <p:sp>
        <p:nvSpPr>
          <p:cNvPr id="9" name="stat card 3"/>
          <p:cNvSpPr/>
          <p:nvPr/>
        </p:nvSpPr>
        <p:spPr>
          <a:xfrm>
            <a:off x="6181344" y="1463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3"/>
          <p:cNvSpPr txBox="1"/>
          <p:nvPr/>
        </p:nvSpPr>
        <p:spPr>
          <a:xfrm>
            <a:off x="6455664" y="1691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→ 14</a:t>
            </a:r>
            <a:endParaRPr lang="en-US" sz="4000" dirty="0"/>
          </a:p>
        </p:txBody>
      </p:sp>
      <p:sp>
        <p:nvSpPr>
          <p:cNvPr id="11" name="stat label 3"/>
          <p:cNvSpPr txBox="1"/>
          <p:nvPr/>
        </p:nvSpPr>
        <p:spPr>
          <a:xfrm>
            <a:off x="6455664" y="2697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Trending entries reviewed; genuine claims kept</a:t>
            </a:r>
            <a:endParaRPr lang="en-US" sz="1500" dirty="0"/>
          </a:p>
        </p:txBody>
      </p:sp>
      <p:sp>
        <p:nvSpPr>
          <p:cNvPr id="12" name="stat card 4"/>
          <p:cNvSpPr/>
          <p:nvPr/>
        </p:nvSpPr>
        <p:spPr>
          <a:xfrm>
            <a:off x="8997696" y="1463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4"/>
          <p:cNvSpPr txBox="1"/>
          <p:nvPr/>
        </p:nvSpPr>
        <p:spPr>
          <a:xfrm>
            <a:off x="9272016" y="1691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4" name="stat label 4"/>
          <p:cNvSpPr txBox="1"/>
          <p:nvPr/>
        </p:nvSpPr>
        <p:spPr>
          <a:xfrm>
            <a:off x="9272016" y="2697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facilities young people named, added to verify</a:t>
            </a:r>
            <a:endParaRPr lang="en-US" sz="1500" dirty="0"/>
          </a:p>
        </p:txBody>
      </p:sp>
      <p:sp>
        <p:nvSpPr>
          <p:cNvPr id="15" name="key changes heading"/>
          <p:cNvSpPr txBox="1"/>
          <p:nvPr/>
        </p:nvSpPr>
        <p:spPr>
          <a:xfrm>
            <a:off x="548640" y="3931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three changes that matter most</a:t>
            </a:r>
            <a:endParaRPr lang="en-US" sz="2000" dirty="0"/>
          </a:p>
        </p:txBody>
      </p:sp>
      <p:sp>
        <p:nvSpPr>
          <p:cNvPr id="16" name="key change 1 circle"/>
          <p:cNvSpPr/>
          <p:nvPr/>
        </p:nvSpPr>
        <p:spPr>
          <a:xfrm>
            <a:off x="548640" y="45262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key chang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690872"/>
            <a:ext cx="356616" cy="356616"/>
          </a:xfrm>
          <a:prstGeom prst="rect">
            <a:avLst/>
          </a:prstGeom>
        </p:spPr>
      </p:pic>
      <p:sp>
        <p:nvSpPr>
          <p:cNvPr id="18" name="key change text 1"/>
          <p:cNvSpPr txBox="1"/>
          <p:nvPr/>
        </p:nvSpPr>
        <p:spPr>
          <a:xfrm>
            <a:off x="1417320" y="4553712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Young people can get their answers back with a private code</a:t>
            </a:r>
            <a:endParaRPr lang="en-US" sz="1600" dirty="0"/>
          </a:p>
        </p:txBody>
      </p:sp>
      <p:sp>
        <p:nvSpPr>
          <p:cNvPr id="19" name="key change 2 circle"/>
          <p:cNvSpPr/>
          <p:nvPr/>
        </p:nvSpPr>
        <p:spPr>
          <a:xfrm>
            <a:off x="4297680" y="45262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key chang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4690872"/>
            <a:ext cx="356616" cy="356616"/>
          </a:xfrm>
          <a:prstGeom prst="rect">
            <a:avLst/>
          </a:prstGeom>
        </p:spPr>
      </p:pic>
      <p:sp>
        <p:nvSpPr>
          <p:cNvPr id="21" name="key change text 2"/>
          <p:cNvSpPr txBox="1"/>
          <p:nvPr/>
        </p:nvSpPr>
        <p:spPr>
          <a:xfrm>
            <a:off x="5166360" y="4553712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They choose whether an answer is shared or kept private</a:t>
            </a:r>
            <a:endParaRPr lang="en-US" sz="1600" dirty="0"/>
          </a:p>
        </p:txBody>
      </p:sp>
      <p:sp>
        <p:nvSpPr>
          <p:cNvPr id="22" name="key change 3 circle"/>
          <p:cNvSpPr/>
          <p:nvPr/>
        </p:nvSpPr>
        <p:spPr>
          <a:xfrm>
            <a:off x="8046720" y="45262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key chang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4690872"/>
            <a:ext cx="356616" cy="356616"/>
          </a:xfrm>
          <a:prstGeom prst="rect">
            <a:avLst/>
          </a:prstGeom>
        </p:spPr>
      </p:pic>
      <p:sp>
        <p:nvSpPr>
          <p:cNvPr id="24" name="key change text 3"/>
          <p:cNvSpPr txBox="1"/>
          <p:nvPr/>
        </p:nvSpPr>
        <p:spPr>
          <a:xfrm>
            <a:off x="8915400" y="4553712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app never silently fails or loses their work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young people told us</a:t>
            </a:r>
            <a:endParaRPr lang="en-US" sz="3400" dirty="0"/>
          </a:p>
        </p:txBody>
      </p:sp>
      <p:sp>
        <p:nvSpPr>
          <p:cNvPr id="3" name="feedback card 1"/>
          <p:cNvSpPr/>
          <p:nvPr/>
        </p:nvSpPr>
        <p:spPr>
          <a:xfrm>
            <a:off x="548640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eedback 1 circle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feedback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845259"/>
            <a:ext cx="332842" cy="332842"/>
          </a:xfrm>
          <a:prstGeom prst="rect">
            <a:avLst/>
          </a:prstGeom>
        </p:spPr>
      </p:pic>
      <p:sp>
        <p:nvSpPr>
          <p:cNvPr id="6" name="feedback title 1"/>
          <p:cNvSpPr txBox="1"/>
          <p:nvPr/>
        </p:nvSpPr>
        <p:spPr>
          <a:xfrm>
            <a:off x="82296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Saw someone else’s story</a:t>
            </a:r>
            <a:endParaRPr lang="en-US" sz="1800" dirty="0"/>
          </a:p>
        </p:txBody>
      </p:sp>
      <p:sp>
        <p:nvSpPr>
          <p:cNvPr id="7" name="feedback detail 1"/>
          <p:cNvSpPr txBox="1"/>
          <p:nvPr/>
        </p:nvSpPr>
        <p:spPr>
          <a:xfrm>
            <a:off x="822960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Public answers were unlabelled under the form</a:t>
            </a:r>
            <a:endParaRPr lang="en-US" sz="1400" dirty="0"/>
          </a:p>
        </p:txBody>
      </p:sp>
      <p:sp>
        <p:nvSpPr>
          <p:cNvPr id="8" name="feedback card 2"/>
          <p:cNvSpPr/>
          <p:nvPr/>
        </p:nvSpPr>
        <p:spPr>
          <a:xfrm>
            <a:off x="4297680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eedback 2 circle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feedback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1845259"/>
            <a:ext cx="332842" cy="332842"/>
          </a:xfrm>
          <a:prstGeom prst="rect">
            <a:avLst/>
          </a:prstGeom>
        </p:spPr>
      </p:pic>
      <p:sp>
        <p:nvSpPr>
          <p:cNvPr id="11" name="feedback title 2"/>
          <p:cNvSpPr txBox="1"/>
          <p:nvPr/>
        </p:nvSpPr>
        <p:spPr>
          <a:xfrm>
            <a:off x="457200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Couldn’t get answers back</a:t>
            </a:r>
            <a:endParaRPr lang="en-US" sz="1800" dirty="0"/>
          </a:p>
        </p:txBody>
      </p:sp>
      <p:sp>
        <p:nvSpPr>
          <p:cNvPr id="12" name="feedback detail 2"/>
          <p:cNvSpPr txBox="1"/>
          <p:nvPr/>
        </p:nvSpPr>
        <p:spPr>
          <a:xfrm>
            <a:off x="4572000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“Check back later” — but how, and where?</a:t>
            </a:r>
            <a:endParaRPr lang="en-US" sz="1400" dirty="0"/>
          </a:p>
        </p:txBody>
      </p:sp>
      <p:sp>
        <p:nvSpPr>
          <p:cNvPr id="13" name="feedback card 3"/>
          <p:cNvSpPr/>
          <p:nvPr/>
        </p:nvSpPr>
        <p:spPr>
          <a:xfrm>
            <a:off x="8046720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eedback 3 circle"/>
          <p:cNvSpPr/>
          <p:nvPr/>
        </p:nvSpPr>
        <p:spPr>
          <a:xfrm>
            <a:off x="8321040" y="169164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feedback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1845259"/>
            <a:ext cx="332842" cy="332842"/>
          </a:xfrm>
          <a:prstGeom prst="rect">
            <a:avLst/>
          </a:prstGeom>
        </p:spPr>
      </p:pic>
      <p:sp>
        <p:nvSpPr>
          <p:cNvPr id="16" name="feedback title 3"/>
          <p:cNvSpPr txBox="1"/>
          <p:nvPr/>
        </p:nvSpPr>
        <p:spPr>
          <a:xfrm>
            <a:off x="832104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Slow, or didn’t send</a:t>
            </a:r>
            <a:endParaRPr lang="en-US" sz="1800" dirty="0"/>
          </a:p>
        </p:txBody>
      </p:sp>
      <p:sp>
        <p:nvSpPr>
          <p:cNvPr id="17" name="feedback detail 3"/>
          <p:cNvSpPr txBox="1"/>
          <p:nvPr/>
        </p:nvSpPr>
        <p:spPr>
          <a:xfrm>
            <a:off x="8321040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Too many steps; failures were silent</a:t>
            </a:r>
            <a:endParaRPr lang="en-US" sz="1400" dirty="0"/>
          </a:p>
        </p:txBody>
      </p:sp>
      <p:sp>
        <p:nvSpPr>
          <p:cNvPr id="18" name="feedback card 4"/>
          <p:cNvSpPr/>
          <p:nvPr/>
        </p:nvSpPr>
        <p:spPr>
          <a:xfrm>
            <a:off x="548640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eedback 4 circle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feedback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4222699"/>
            <a:ext cx="332842" cy="332842"/>
          </a:xfrm>
          <a:prstGeom prst="rect">
            <a:avLst/>
          </a:prstGeom>
        </p:spPr>
      </p:pic>
      <p:sp>
        <p:nvSpPr>
          <p:cNvPr id="21" name="feedback title 4"/>
          <p:cNvSpPr txBox="1"/>
          <p:nvPr/>
        </p:nvSpPr>
        <p:spPr>
          <a:xfrm>
            <a:off x="822960" y="4846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Generic, “AI” answers</a:t>
            </a:r>
            <a:endParaRPr lang="en-US" sz="1800" dirty="0"/>
          </a:p>
        </p:txBody>
      </p:sp>
      <p:sp>
        <p:nvSpPr>
          <p:cNvPr id="22" name="feedback detail 4"/>
          <p:cNvSpPr txBox="1"/>
          <p:nvPr/>
        </p:nvSpPr>
        <p:spPr>
          <a:xfrm>
            <a:off x="822960" y="5257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Grammar and relevance issues</a:t>
            </a:r>
            <a:endParaRPr lang="en-US" sz="1400" dirty="0"/>
          </a:p>
        </p:txBody>
      </p:sp>
      <p:sp>
        <p:nvSpPr>
          <p:cNvPr id="23" name="feedback card 5"/>
          <p:cNvSpPr/>
          <p:nvPr/>
        </p:nvSpPr>
        <p:spPr>
          <a:xfrm>
            <a:off x="4297680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eedback 5 circle"/>
          <p:cNvSpPr/>
          <p:nvPr/>
        </p:nvSpPr>
        <p:spPr>
          <a:xfrm>
            <a:off x="4572000" y="406908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feedback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619" y="4222699"/>
            <a:ext cx="332842" cy="332842"/>
          </a:xfrm>
          <a:prstGeom prst="rect">
            <a:avLst/>
          </a:prstGeom>
        </p:spPr>
      </p:pic>
      <p:sp>
        <p:nvSpPr>
          <p:cNvPr id="26" name="feedback title 5"/>
          <p:cNvSpPr txBox="1"/>
          <p:nvPr/>
        </p:nvSpPr>
        <p:spPr>
          <a:xfrm>
            <a:off x="4572000" y="4846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Language</a:t>
            </a:r>
            <a:endParaRPr lang="en-US" sz="1800" dirty="0"/>
          </a:p>
        </p:txBody>
      </p:sp>
      <p:sp>
        <p:nvSpPr>
          <p:cNvPr id="27" name="feedback detail 5"/>
          <p:cNvSpPr txBox="1"/>
          <p:nvPr/>
        </p:nvSpPr>
        <p:spPr>
          <a:xfrm>
            <a:off x="4572000" y="5257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English &amp; Kiswahili core; Sheng needs work</a:t>
            </a:r>
            <a:endParaRPr lang="en-US" sz="1400" dirty="0"/>
          </a:p>
        </p:txBody>
      </p:sp>
      <p:sp>
        <p:nvSpPr>
          <p:cNvPr id="28" name="feedback card 6"/>
          <p:cNvSpPr/>
          <p:nvPr/>
        </p:nvSpPr>
        <p:spPr>
          <a:xfrm>
            <a:off x="8046720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feedback 6 circle"/>
          <p:cNvSpPr/>
          <p:nvPr/>
        </p:nvSpPr>
        <p:spPr>
          <a:xfrm>
            <a:off x="8321040" y="406908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0" name="feedback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659" y="4222699"/>
            <a:ext cx="332842" cy="332842"/>
          </a:xfrm>
          <a:prstGeom prst="rect">
            <a:avLst/>
          </a:prstGeom>
        </p:spPr>
      </p:pic>
      <p:sp>
        <p:nvSpPr>
          <p:cNvPr id="31" name="feedback title 6"/>
          <p:cNvSpPr txBox="1"/>
          <p:nvPr/>
        </p:nvSpPr>
        <p:spPr>
          <a:xfrm>
            <a:off x="8321040" y="4846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More clinics, and costs</a:t>
            </a:r>
            <a:endParaRPr lang="en-US" sz="1800" dirty="0"/>
          </a:p>
        </p:txBody>
      </p:sp>
      <p:sp>
        <p:nvSpPr>
          <p:cNvPr id="32" name="feedback detail 6"/>
          <p:cNvSpPr txBox="1"/>
          <p:nvPr/>
        </p:nvSpPr>
        <p:spPr>
          <a:xfrm>
            <a:off x="8321040" y="5257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Juja Road, Mathare, Dandora, MSF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by design — and answers come back</a:t>
            </a:r>
            <a:endParaRPr lang="en-US" sz="3400" dirty="0"/>
          </a:p>
        </p:txBody>
      </p:sp>
      <p:sp>
        <p:nvSpPr>
          <p:cNvPr id="3" name="privacy point 1"/>
          <p:cNvSpPr txBox="1"/>
          <p:nvPr/>
        </p:nvSpPr>
        <p:spPr>
          <a:xfrm>
            <a:off x="548640" y="1417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Clear labelling</a:t>
            </a:r>
            <a:endParaRPr lang="en-US" sz="1800" dirty="0"/>
          </a:p>
        </p:txBody>
      </p:sp>
      <p:sp>
        <p:nvSpPr>
          <p:cNvPr id="4" name="privacy detail 1"/>
          <p:cNvSpPr txBox="1"/>
          <p:nvPr/>
        </p:nvSpPr>
        <p:spPr>
          <a:xfrm>
            <a:off x="548640" y="17830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Other people’s questions are headed “Questions other young people asked”, each marked “Asked anonymously”.</a:t>
            </a:r>
            <a:endParaRPr lang="en-US" sz="1500" dirty="0"/>
          </a:p>
        </p:txBody>
      </p:sp>
      <p:sp>
        <p:nvSpPr>
          <p:cNvPr id="5" name="privacy point 2"/>
          <p:cNvSpPr txBox="1"/>
          <p:nvPr/>
        </p:nvSpPr>
        <p:spPr>
          <a:xfrm>
            <a:off x="548640" y="2606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Askers choose</a:t>
            </a:r>
            <a:endParaRPr lang="en-US" sz="1800" dirty="0"/>
          </a:p>
        </p:txBody>
      </p:sp>
      <p:sp>
        <p:nvSpPr>
          <p:cNvPr id="6" name="privacy detail 2"/>
          <p:cNvSpPr txBox="1"/>
          <p:nvPr/>
        </p:nvSpPr>
        <p:spPr>
          <a:xfrm>
            <a:off x="548640" y="29718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Share the answer anonymously to help others, or keep it just for themselves.</a:t>
            </a:r>
            <a:endParaRPr lang="en-US" sz="1500" dirty="0"/>
          </a:p>
        </p:txBody>
      </p:sp>
      <p:sp>
        <p:nvSpPr>
          <p:cNvPr id="7" name="privacy point 3"/>
          <p:cNvSpPr txBox="1"/>
          <p:nvPr/>
        </p:nvSpPr>
        <p:spPr>
          <a:xfrm>
            <a:off x="548640" y="3794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private code</a:t>
            </a:r>
            <a:endParaRPr lang="en-US" sz="1800" dirty="0"/>
          </a:p>
        </p:txBody>
      </p:sp>
      <p:sp>
        <p:nvSpPr>
          <p:cNvPr id="8" name="privacy detail 3"/>
          <p:cNvSpPr txBox="1"/>
          <p:nvPr/>
        </p:nvSpPr>
        <p:spPr>
          <a:xfrm>
            <a:off x="548640" y="416052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question gets a code like 6A36-F5GA-TQ9G. Only a scrambled version is stored — no one can link a question to a person.</a:t>
            </a:r>
            <a:endParaRPr lang="en-US" sz="1500" dirty="0"/>
          </a:p>
        </p:txBody>
      </p:sp>
      <p:sp>
        <p:nvSpPr>
          <p:cNvPr id="9" name="privacy point 4"/>
          <p:cNvSpPr txBox="1"/>
          <p:nvPr/>
        </p:nvSpPr>
        <p:spPr>
          <a:xfrm>
            <a:off x="548640" y="4983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“My questions”</a:t>
            </a:r>
            <a:endParaRPr lang="en-US" sz="1800" dirty="0"/>
          </a:p>
        </p:txBody>
      </p:sp>
      <p:sp>
        <p:nvSpPr>
          <p:cNvPr id="10" name="privacy detail 4"/>
          <p:cNvSpPr txBox="1"/>
          <p:nvPr/>
        </p:nvSpPr>
        <p:spPr>
          <a:xfrm>
            <a:off x="548640" y="534924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Enter the code on any phone to read the answer. Shared phones: codes can be forgotten, and Exit clears drafts.</a:t>
            </a:r>
            <a:endParaRPr lang="en-US" sz="1500" dirty="0"/>
          </a:p>
        </p:txBody>
      </p:sp>
      <p:sp>
        <p:nvSpPr>
          <p:cNvPr id="11" name="private code screen frame"/>
          <p:cNvSpPr/>
          <p:nvPr/>
        </p:nvSpPr>
        <p:spPr>
          <a:xfrm>
            <a:off x="6803136" y="1271016"/>
            <a:ext cx="2349141" cy="4956048"/>
          </a:xfrm>
          <a:prstGeom prst="roundRect">
            <a:avLst>
              <a:gd name="adj" fmla="val 46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private code screen" descr="private code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25880"/>
            <a:ext cx="2239413" cy="4846320"/>
          </a:xfrm>
          <a:prstGeom prst="rect">
            <a:avLst/>
          </a:prstGeom>
        </p:spPr>
      </p:pic>
      <p:sp>
        <p:nvSpPr>
          <p:cNvPr id="13" name="My questions screen frame"/>
          <p:cNvSpPr/>
          <p:nvPr/>
        </p:nvSpPr>
        <p:spPr>
          <a:xfrm>
            <a:off x="9317736" y="1271016"/>
            <a:ext cx="2349141" cy="4956048"/>
          </a:xfrm>
          <a:prstGeom prst="roundRect">
            <a:avLst>
              <a:gd name="adj" fmla="val 46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My questions screen" descr="My questions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325880"/>
            <a:ext cx="2239413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Asking is quicker and clearer</a:t>
            </a:r>
            <a:endParaRPr lang="en-US" sz="3400" dirty="0"/>
          </a:p>
        </p:txBody>
      </p:sp>
      <p:sp>
        <p:nvSpPr>
          <p:cNvPr id="3" name="Ask screen with photo frame"/>
          <p:cNvSpPr/>
          <p:nvPr/>
        </p:nvSpPr>
        <p:spPr>
          <a:xfrm>
            <a:off x="676656" y="1271016"/>
            <a:ext cx="2349141" cy="4956048"/>
          </a:xfrm>
          <a:prstGeom prst="roundRect">
            <a:avLst>
              <a:gd name="adj" fmla="val 46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" name="Ask screen with photo" descr="Ask screen with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239413" cy="4846320"/>
          </a:xfrm>
          <a:prstGeom prst="rect">
            <a:avLst/>
          </a:prstGeom>
        </p:spPr>
      </p:pic>
      <p:sp>
        <p:nvSpPr>
          <p:cNvPr id="5" name="ask feature 1 circle"/>
          <p:cNvSpPr/>
          <p:nvPr/>
        </p:nvSpPr>
        <p:spPr>
          <a:xfrm>
            <a:off x="3657600" y="13716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ask feature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165" y="1547165"/>
            <a:ext cx="380390" cy="380390"/>
          </a:xfrm>
          <a:prstGeom prst="rect">
            <a:avLst/>
          </a:prstGeom>
        </p:spPr>
      </p:pic>
      <p:sp>
        <p:nvSpPr>
          <p:cNvPr id="7" name="ask feature title 1"/>
          <p:cNvSpPr txBox="1"/>
          <p:nvPr/>
        </p:nvSpPr>
        <p:spPr>
          <a:xfrm>
            <a:off x="4617720" y="13898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Always responds</a:t>
            </a:r>
            <a:endParaRPr lang="en-US" sz="1800" dirty="0"/>
          </a:p>
        </p:txBody>
      </p:sp>
      <p:sp>
        <p:nvSpPr>
          <p:cNvPr id="8" name="ask feature detail 1"/>
          <p:cNvSpPr txBox="1"/>
          <p:nvPr/>
        </p:nvSpPr>
        <p:spPr>
          <a:xfrm>
            <a:off x="4617720" y="175564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button reacts every time; the security check runs invisibly.</a:t>
            </a:r>
            <a:endParaRPr lang="en-US" sz="1500" dirty="0"/>
          </a:p>
        </p:txBody>
      </p:sp>
      <p:sp>
        <p:nvSpPr>
          <p:cNvPr id="9" name="ask feature 2 circle"/>
          <p:cNvSpPr/>
          <p:nvPr/>
        </p:nvSpPr>
        <p:spPr>
          <a:xfrm>
            <a:off x="3657600" y="2578608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ask feature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165" y="2754173"/>
            <a:ext cx="380390" cy="380390"/>
          </a:xfrm>
          <a:prstGeom prst="rect">
            <a:avLst/>
          </a:prstGeom>
        </p:spPr>
      </p:pic>
      <p:sp>
        <p:nvSpPr>
          <p:cNvPr id="11" name="ask feature title 2"/>
          <p:cNvSpPr txBox="1"/>
          <p:nvPr/>
        </p:nvSpPr>
        <p:spPr>
          <a:xfrm>
            <a:off x="4617720" y="259689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Clear outcomes</a:t>
            </a:r>
            <a:endParaRPr lang="en-US" sz="1800" dirty="0"/>
          </a:p>
        </p:txBody>
      </p:sp>
      <p:sp>
        <p:nvSpPr>
          <p:cNvPr id="12" name="ask feature detail 2"/>
          <p:cNvSpPr txBox="1"/>
          <p:nvPr/>
        </p:nvSpPr>
        <p:spPr>
          <a:xfrm>
            <a:off x="4617720" y="296265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send ends in the code or a plain error — the question is kept.</a:t>
            </a:r>
            <a:endParaRPr lang="en-US" sz="1500" dirty="0"/>
          </a:p>
        </p:txBody>
      </p:sp>
      <p:sp>
        <p:nvSpPr>
          <p:cNvPr id="13" name="ask feature 3 circle"/>
          <p:cNvSpPr/>
          <p:nvPr/>
        </p:nvSpPr>
        <p:spPr>
          <a:xfrm>
            <a:off x="3657600" y="3785616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ask feature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165" y="3961181"/>
            <a:ext cx="380390" cy="380390"/>
          </a:xfrm>
          <a:prstGeom prst="rect">
            <a:avLst/>
          </a:prstGeom>
        </p:spPr>
      </p:pic>
      <p:sp>
        <p:nvSpPr>
          <p:cNvPr id="15" name="ask feature title 3"/>
          <p:cNvSpPr txBox="1"/>
          <p:nvPr/>
        </p:nvSpPr>
        <p:spPr>
          <a:xfrm>
            <a:off x="4617720" y="380390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Speak instead</a:t>
            </a:r>
            <a:endParaRPr lang="en-US" sz="1800" dirty="0"/>
          </a:p>
        </p:txBody>
      </p:sp>
      <p:sp>
        <p:nvSpPr>
          <p:cNvPr id="16" name="ask feature detail 3"/>
          <p:cNvSpPr txBox="1"/>
          <p:nvPr/>
        </p:nvSpPr>
        <p:spPr>
          <a:xfrm>
            <a:off x="4617720" y="41696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Talk instead of typing on supported phones; we only receive the text.</a:t>
            </a:r>
            <a:endParaRPr lang="en-US" sz="1500" dirty="0"/>
          </a:p>
        </p:txBody>
      </p:sp>
      <p:sp>
        <p:nvSpPr>
          <p:cNvPr id="17" name="ask feature 4 circle"/>
          <p:cNvSpPr/>
          <p:nvPr/>
        </p:nvSpPr>
        <p:spPr>
          <a:xfrm>
            <a:off x="3657600" y="4992624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ask feature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3165" y="5168189"/>
            <a:ext cx="380390" cy="380390"/>
          </a:xfrm>
          <a:prstGeom prst="rect">
            <a:avLst/>
          </a:prstGeom>
        </p:spPr>
      </p:pic>
      <p:sp>
        <p:nvSpPr>
          <p:cNvPr id="19" name="ask feature title 4"/>
          <p:cNvSpPr txBox="1"/>
          <p:nvPr/>
        </p:nvSpPr>
        <p:spPr>
          <a:xfrm>
            <a:off x="4617720" y="501091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Photo questions</a:t>
            </a:r>
            <a:endParaRPr lang="en-US" sz="1800" dirty="0"/>
          </a:p>
        </p:txBody>
      </p:sp>
      <p:sp>
        <p:nvSpPr>
          <p:cNvPr id="20" name="ask feature detail 4"/>
          <p:cNvSpPr txBox="1"/>
          <p:nvPr/>
        </p:nvSpPr>
        <p:spPr>
          <a:xfrm>
            <a:off x="4617720" y="537667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Hidden data removed on the phone; only the health team sees it; deleted once answered.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loses their place or their work</a:t>
            </a:r>
            <a:endParaRPr lang="en-US" sz="3400" dirty="0"/>
          </a:p>
        </p:txBody>
      </p:sp>
      <p:sp>
        <p:nvSpPr>
          <p:cNvPr id="3" name="place card 1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lace 1 circle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plac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1867205"/>
            <a:ext cx="380390" cy="380390"/>
          </a:xfrm>
          <a:prstGeom prst="rect">
            <a:avLst/>
          </a:prstGeom>
        </p:spPr>
      </p:pic>
      <p:sp>
        <p:nvSpPr>
          <p:cNvPr id="6" name="place heading 1"/>
          <p:cNvSpPr txBox="1"/>
          <p:nvPr/>
        </p:nvSpPr>
        <p:spPr>
          <a:xfrm>
            <a:off x="178308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In UkweliSRHR</a:t>
            </a:r>
            <a:endParaRPr lang="en-US" sz="2200" dirty="0"/>
          </a:p>
        </p:txBody>
      </p:sp>
      <p:sp>
        <p:nvSpPr>
          <p:cNvPr id="7" name="place points 1"/>
          <p:cNvSpPr txBox="1"/>
          <p:nvPr/>
        </p:nvSpPr>
        <p:spPr>
          <a:xfrm>
            <a:off x="868680" y="27432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open tab and item (a myth, a Learn topic, a county) are kept in the page link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Coming back or reloading returns you to the same spot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Half-written questions survive leaving, but are wiped on Exit or closing the tab</a:t>
            </a:r>
            <a:endParaRPr lang="en-US" sz="1600" dirty="0"/>
          </a:p>
        </p:txBody>
      </p:sp>
      <p:sp>
        <p:nvSpPr>
          <p:cNvPr id="8" name="place card 2"/>
          <p:cNvSpPr/>
          <p:nvPr/>
        </p:nvSpPr>
        <p:spPr>
          <a:xfrm>
            <a:off x="621792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lace 2 circle"/>
          <p:cNvSpPr/>
          <p:nvPr/>
        </p:nvSpPr>
        <p:spPr>
          <a:xfrm>
            <a:off x="6537960" y="16916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plac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525" y="1867205"/>
            <a:ext cx="380390" cy="380390"/>
          </a:xfrm>
          <a:prstGeom prst="rect">
            <a:avLst/>
          </a:prstGeom>
        </p:spPr>
      </p:pic>
      <p:sp>
        <p:nvSpPr>
          <p:cNvPr id="11" name="place heading 2"/>
          <p:cNvSpPr txBox="1"/>
          <p:nvPr/>
        </p:nvSpPr>
        <p:spPr>
          <a:xfrm>
            <a:off x="745236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In Admin</a:t>
            </a:r>
            <a:endParaRPr lang="en-US" sz="2200" dirty="0"/>
          </a:p>
        </p:txBody>
      </p:sp>
      <p:sp>
        <p:nvSpPr>
          <p:cNvPr id="12" name="place points 2"/>
          <p:cNvSpPr txBox="1"/>
          <p:nvPr/>
        </p:nvSpPr>
        <p:spPr>
          <a:xfrm>
            <a:off x="6537960" y="27432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desk and editor you had open are remembered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half-written answer is saved until you publish or sign out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loading hiccup can’t wipe drafts; “Restore my own draft” after an AI draft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New: Catch the Latest</a:t>
            </a:r>
            <a:endParaRPr lang="en-US" sz="3400" dirty="0"/>
          </a:p>
        </p:txBody>
      </p:sp>
      <p:sp>
        <p:nvSpPr>
          <p:cNvPr id="3" name="latest intro"/>
          <p:cNvSpPr txBox="1"/>
          <p:nvPr/>
        </p:nvSpPr>
        <p:spPr>
          <a:xfrm>
            <a:off x="548640" y="13258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Court rulings, laws, policies and new health options — what happened, what it means for you, where it stands now, with helplines and sources.</a:t>
            </a:r>
            <a:endParaRPr lang="en-US" sz="1600" dirty="0"/>
          </a:p>
        </p:txBody>
      </p:sp>
      <p:sp>
        <p:nvSpPr>
          <p:cNvPr id="4" name="latest date 1"/>
          <p:cNvSpPr/>
          <p:nvPr/>
        </p:nvSpPr>
        <p:spPr>
          <a:xfrm>
            <a:off x="548640" y="2286000"/>
            <a:ext cx="12344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latest date text 1"/>
          <p:cNvSpPr txBox="1"/>
          <p:nvPr/>
        </p:nvSpPr>
        <p:spPr>
          <a:xfrm>
            <a:off x="548640" y="22860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May 2026</a:t>
            </a:r>
            <a:endParaRPr lang="en-US" sz="1300" dirty="0"/>
          </a:p>
        </p:txBody>
      </p:sp>
      <p:sp>
        <p:nvSpPr>
          <p:cNvPr id="6" name="latest item 1"/>
          <p:cNvSpPr txBox="1"/>
          <p:nvPr/>
        </p:nvSpPr>
        <p:spPr>
          <a:xfrm>
            <a:off x="1965960" y="226771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High Court: teens in consensual, close-in-age relationships shouldn’t be prosecuted — age of consent still 18</a:t>
            </a:r>
            <a:endParaRPr lang="en-US" sz="1500" dirty="0"/>
          </a:p>
        </p:txBody>
      </p:sp>
      <p:sp>
        <p:nvSpPr>
          <p:cNvPr id="7" name="latest date 2"/>
          <p:cNvSpPr/>
          <p:nvPr/>
        </p:nvSpPr>
        <p:spPr>
          <a:xfrm>
            <a:off x="548640" y="3273552"/>
            <a:ext cx="12344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latest date text 2"/>
          <p:cNvSpPr txBox="1"/>
          <p:nvPr/>
        </p:nvSpPr>
        <p:spPr>
          <a:xfrm>
            <a:off x="548640" y="32735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Apr 2026</a:t>
            </a:r>
            <a:endParaRPr lang="en-US" sz="1300" dirty="0"/>
          </a:p>
        </p:txBody>
      </p:sp>
      <p:sp>
        <p:nvSpPr>
          <p:cNvPr id="9" name="latest item 2"/>
          <p:cNvSpPr txBox="1"/>
          <p:nvPr/>
        </p:nvSpPr>
        <p:spPr>
          <a:xfrm>
            <a:off x="1965960" y="3255264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Court of Appeal overturns 2022 ruling that called abortion a right (now at the Supreme Court)</a:t>
            </a:r>
            <a:endParaRPr lang="en-US" sz="1500" dirty="0"/>
          </a:p>
        </p:txBody>
      </p:sp>
      <p:sp>
        <p:nvSpPr>
          <p:cNvPr id="10" name="latest date 3"/>
          <p:cNvSpPr/>
          <p:nvPr/>
        </p:nvSpPr>
        <p:spPr>
          <a:xfrm>
            <a:off x="548640" y="4261104"/>
            <a:ext cx="12344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latest date text 3"/>
          <p:cNvSpPr txBox="1"/>
          <p:nvPr/>
        </p:nvSpPr>
        <p:spPr>
          <a:xfrm>
            <a:off x="548640" y="42611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Feb 2026</a:t>
            </a:r>
            <a:endParaRPr lang="en-US" sz="1300" dirty="0"/>
          </a:p>
        </p:txBody>
      </p:sp>
      <p:sp>
        <p:nvSpPr>
          <p:cNvPr id="12" name="latest item 3"/>
          <p:cNvSpPr txBox="1"/>
          <p:nvPr/>
        </p:nvSpPr>
        <p:spPr>
          <a:xfrm>
            <a:off x="1965960" y="424281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Twice-yearly HIV prevention injection (lenacapavir) rolled out</a:t>
            </a:r>
            <a:endParaRPr lang="en-US" sz="1500" dirty="0"/>
          </a:p>
        </p:txBody>
      </p:sp>
      <p:sp>
        <p:nvSpPr>
          <p:cNvPr id="13" name="latest date 4"/>
          <p:cNvSpPr/>
          <p:nvPr/>
        </p:nvSpPr>
        <p:spPr>
          <a:xfrm>
            <a:off x="548640" y="5248656"/>
            <a:ext cx="12344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latest date text 4"/>
          <p:cNvSpPr txBox="1"/>
          <p:nvPr/>
        </p:nvSpPr>
        <p:spPr>
          <a:xfrm>
            <a:off x="548640" y="52486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+ 8 more</a:t>
            </a:r>
            <a:endParaRPr lang="en-US" sz="1300" dirty="0"/>
          </a:p>
        </p:txBody>
      </p:sp>
      <p:sp>
        <p:nvSpPr>
          <p:cNvPr id="15" name="latest item 4"/>
          <p:cNvSpPr txBox="1"/>
          <p:nvPr/>
        </p:nvSpPr>
        <p:spPr>
          <a:xfrm>
            <a:off x="1965960" y="523036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HPV single dose · GBV &amp; femicide report · school re-entry · Children Act · LGBTQ law status · and more</a:t>
            </a:r>
            <a:endParaRPr lang="en-US" sz="1500" dirty="0"/>
          </a:p>
        </p:txBody>
      </p:sp>
      <p:sp>
        <p:nvSpPr>
          <p:cNvPr id="16" name="latest note"/>
          <p:cNvSpPr txBox="1"/>
          <p:nvPr/>
        </p:nvSpPr>
        <p:spPr>
          <a:xfrm>
            <a:off x="548640" y="59893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All 11 in English and Kiswahili · team adds more from Admin with an AI helper</a:t>
            </a:r>
            <a:endParaRPr lang="en-US" sz="1200" dirty="0"/>
          </a:p>
        </p:txBody>
      </p:sp>
      <p:sp>
        <p:nvSpPr>
          <p:cNvPr id="17" name="Catch the Latest in English frame"/>
          <p:cNvSpPr/>
          <p:nvPr/>
        </p:nvSpPr>
        <p:spPr>
          <a:xfrm>
            <a:off x="7031736" y="1271016"/>
            <a:ext cx="2349141" cy="4956048"/>
          </a:xfrm>
          <a:prstGeom prst="roundRect">
            <a:avLst>
              <a:gd name="adj" fmla="val 46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8" name="Catch the Latest in English" descr="Catch the Latest in Engl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325880"/>
            <a:ext cx="2239413" cy="4846320"/>
          </a:xfrm>
          <a:prstGeom prst="rect">
            <a:avLst/>
          </a:prstGeom>
        </p:spPr>
      </p:pic>
      <p:sp>
        <p:nvSpPr>
          <p:cNvPr id="19" name="Catch the Latest in Kiswahili frame"/>
          <p:cNvSpPr/>
          <p:nvPr/>
        </p:nvSpPr>
        <p:spPr>
          <a:xfrm>
            <a:off x="9454896" y="1271016"/>
            <a:ext cx="2349141" cy="4956048"/>
          </a:xfrm>
          <a:prstGeom prst="roundRect">
            <a:avLst>
              <a:gd name="adj" fmla="val 46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0" name="Catch the Latest in Kiswahili" descr="Catch the Latest in Kiswahil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325880"/>
            <a:ext cx="2239413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Trending: cleaned up and reviewed</a:t>
            </a:r>
            <a:endParaRPr lang="en-US" sz="3400" dirty="0"/>
          </a:p>
        </p:txBody>
      </p:sp>
      <p:sp>
        <p:nvSpPr>
          <p:cNvPr id="3" name="trending stat 1"/>
          <p:cNvSpPr txBox="1"/>
          <p:nvPr/>
        </p:nvSpPr>
        <p:spPr>
          <a:xfrm>
            <a:off x="548640" y="1417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400" dirty="0"/>
          </a:p>
        </p:txBody>
      </p:sp>
      <p:sp>
        <p:nvSpPr>
          <p:cNvPr id="4" name="trending stat label 1"/>
          <p:cNvSpPr txBox="1"/>
          <p:nvPr/>
        </p:nvSpPr>
        <p:spPr>
          <a:xfrm>
            <a:off x="2651760" y="1645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summaries that were just broken web code</a:t>
            </a:r>
            <a:endParaRPr lang="en-US" sz="1700" dirty="0"/>
          </a:p>
        </p:txBody>
      </p:sp>
      <p:sp>
        <p:nvSpPr>
          <p:cNvPr id="5" name="trending stat 2"/>
          <p:cNvSpPr txBox="1"/>
          <p:nvPr/>
        </p:nvSpPr>
        <p:spPr>
          <a:xfrm>
            <a:off x="548640" y="2834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</a:t>
            </a:r>
            <a:endParaRPr lang="en-US" sz="5400" dirty="0"/>
          </a:p>
        </p:txBody>
      </p:sp>
      <p:sp>
        <p:nvSpPr>
          <p:cNvPr id="6" name="trending stat label 2"/>
          <p:cNvSpPr txBox="1"/>
          <p:nvPr/>
        </p:nvSpPr>
        <p:spPr>
          <a:xfrm>
            <a:off x="2651760" y="3063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repeats of the same story from two outlets</a:t>
            </a:r>
            <a:endParaRPr lang="en-US" sz="1700" dirty="0"/>
          </a:p>
        </p:txBody>
      </p:sp>
      <p:sp>
        <p:nvSpPr>
          <p:cNvPr id="7" name="trending stat 3"/>
          <p:cNvSpPr txBox="1"/>
          <p:nvPr/>
        </p:nvSpPr>
        <p:spPr>
          <a:xfrm>
            <a:off x="548640" y="4251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5400" dirty="0"/>
          </a:p>
        </p:txBody>
      </p:sp>
      <p:sp>
        <p:nvSpPr>
          <p:cNvPr id="8" name="trending stat label 3"/>
          <p:cNvSpPr txBox="1"/>
          <p:nvPr/>
        </p:nvSpPr>
        <p:spPr>
          <a:xfrm>
            <a:off x="2651760" y="44805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genuine, relevant claims now shown</a:t>
            </a:r>
            <a:endParaRPr lang="en-US" sz="1700" dirty="0"/>
          </a:p>
        </p:txBody>
      </p:sp>
      <p:sp>
        <p:nvSpPr>
          <p:cNvPr id="9" name="trending note"/>
          <p:cNvSpPr txBox="1"/>
          <p:nvPr/>
        </p:nvSpPr>
        <p:spPr>
          <a:xfrm>
            <a:off x="548640" y="56235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Others were reporting, not misinformation, or from other countries and years ago. The scanner now cleans text, skips repeats and only shows recent, Kenya-relevant misinformation. The hub’s Radar keeps everything; the team can show or hide any item.</a:t>
            </a:r>
            <a:endParaRPr lang="en-US" sz="1300" dirty="0"/>
          </a:p>
        </p:txBody>
      </p:sp>
      <p:sp>
        <p:nvSpPr>
          <p:cNvPr id="10" name="Spreading right now after review frame"/>
          <p:cNvSpPr/>
          <p:nvPr/>
        </p:nvSpPr>
        <p:spPr>
          <a:xfrm>
            <a:off x="8174736" y="1271016"/>
            <a:ext cx="2349141" cy="4956048"/>
          </a:xfrm>
          <a:prstGeom prst="roundRect">
            <a:avLst>
              <a:gd name="adj" fmla="val 46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Spreading right now after review" descr="Spreading right now after re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25880"/>
            <a:ext cx="2239413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 health, and clinics with costs</a:t>
            </a:r>
            <a:endParaRPr lang="en-US" sz="3400" dirty="0"/>
          </a:p>
        </p:txBody>
      </p:sp>
      <p:sp>
        <p:nvSpPr>
          <p:cNvPr id="3" name="Mental health Learn topic frame"/>
          <p:cNvSpPr/>
          <p:nvPr/>
        </p:nvSpPr>
        <p:spPr>
          <a:xfrm>
            <a:off x="585216" y="1271016"/>
            <a:ext cx="2349141" cy="4956048"/>
          </a:xfrm>
          <a:prstGeom prst="roundRect">
            <a:avLst>
              <a:gd name="adj" fmla="val 46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" name="Mental health Learn topic" descr="Mental health Learn top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2239413" cy="4846320"/>
          </a:xfrm>
          <a:prstGeom prst="rect">
            <a:avLst/>
          </a:prstGeom>
        </p:spPr>
      </p:pic>
      <p:sp>
        <p:nvSpPr>
          <p:cNvPr id="5" name="mental heading"/>
          <p:cNvSpPr txBox="1"/>
          <p:nvPr/>
        </p:nvSpPr>
        <p:spPr>
          <a:xfrm>
            <a:off x="3063240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Mental Health &amp; SRHR</a:t>
            </a:r>
            <a:endParaRPr lang="en-US" sz="1900" dirty="0"/>
          </a:p>
        </p:txBody>
      </p:sp>
      <p:sp>
        <p:nvSpPr>
          <p:cNvPr id="6" name="mental detail"/>
          <p:cNvSpPr txBox="1"/>
          <p:nvPr/>
        </p:nvSpPr>
        <p:spPr>
          <a:xfrm>
            <a:off x="3063240" y="187452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new Learn topic in English and Kiswahili: how feelings and SRH affect each other, signs to take seriously, stigma, pregnancy, and where to talk now (1199, Befrienders, 1190).</a:t>
            </a:r>
            <a:endParaRPr lang="en-US" sz="1500" dirty="0"/>
          </a:p>
        </p:txBody>
      </p:sp>
      <p:pic>
        <p:nvPicPr>
          <p:cNvPr id="7" name="Hebu Fika facility card" descr="Facility card with cost, hours and conta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2240280" cy="3751033"/>
          </a:xfrm>
          <a:prstGeom prst="rect">
            <a:avLst/>
          </a:prstGeom>
        </p:spPr>
      </p:pic>
      <p:sp>
        <p:nvSpPr>
          <p:cNvPr id="8" name="fika heading"/>
          <p:cNvSpPr txBox="1"/>
          <p:nvPr/>
        </p:nvSpPr>
        <p:spPr>
          <a:xfrm>
            <a:off x="891540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Hebu Fika</a:t>
            </a:r>
            <a:endParaRPr lang="en-US" sz="1900" dirty="0"/>
          </a:p>
        </p:txBody>
      </p:sp>
      <p:sp>
        <p:nvSpPr>
          <p:cNvPr id="9" name="fika points"/>
          <p:cNvSpPr txBox="1"/>
          <p:nvPr/>
        </p:nvSpPr>
        <p:spPr>
          <a:xfrm>
            <a:off x="8915400" y="1874520"/>
            <a:ext cx="2743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Cost shown up front — or “ask before you go”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Hours, ages, tap-to-call, “details checked” date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 places the young people named (Dandora Youth Centre, MSF Lavender House on Juja Road, Mathare North…) added as drafts to verify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“AI-generated”, more human</a:t>
            </a:r>
            <a:endParaRPr lang="en-US" sz="3400" dirty="0"/>
          </a:p>
        </p:txBody>
      </p:sp>
      <p:sp>
        <p:nvSpPr>
          <p:cNvPr id="3" name="Ask screen before frame"/>
          <p:cNvSpPr/>
          <p:nvPr/>
        </p:nvSpPr>
        <p:spPr>
          <a:xfrm>
            <a:off x="676656" y="1408176"/>
            <a:ext cx="2180129" cy="4590288"/>
          </a:xfrm>
          <a:prstGeom prst="roundRect">
            <a:avLst>
              <a:gd name="adj" fmla="val 50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" name="Ask screen before" descr="Ask screen bef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2070401" cy="4480560"/>
          </a:xfrm>
          <a:prstGeom prst="rect">
            <a:avLst/>
          </a:prstGeom>
        </p:spPr>
      </p:pic>
      <p:sp>
        <p:nvSpPr>
          <p:cNvPr id="5" name="Ask screen after frame"/>
          <p:cNvSpPr/>
          <p:nvPr/>
        </p:nvSpPr>
        <p:spPr>
          <a:xfrm>
            <a:off x="3236976" y="1408176"/>
            <a:ext cx="2180129" cy="4590288"/>
          </a:xfrm>
          <a:prstGeom prst="roundRect">
            <a:avLst>
              <a:gd name="adj" fmla="val 50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Ask screen after" descr="Ask screen af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463040"/>
            <a:ext cx="2070401" cy="4480560"/>
          </a:xfrm>
          <a:prstGeom prst="rect">
            <a:avLst/>
          </a:prstGeom>
        </p:spPr>
      </p:pic>
      <p:sp>
        <p:nvSpPr>
          <p:cNvPr id="7" name="before label"/>
          <p:cNvSpPr txBox="1"/>
          <p:nvPr/>
        </p:nvSpPr>
        <p:spPr>
          <a:xfrm>
            <a:off x="731520" y="60350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Before</a:t>
            </a:r>
            <a:endParaRPr lang="en-US" sz="1200" dirty="0"/>
          </a:p>
        </p:txBody>
      </p:sp>
      <p:sp>
        <p:nvSpPr>
          <p:cNvPr id="8" name="after label"/>
          <p:cNvSpPr txBox="1"/>
          <p:nvPr/>
        </p:nvSpPr>
        <p:spPr>
          <a:xfrm>
            <a:off x="3291840" y="60350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After</a:t>
            </a:r>
            <a:endParaRPr lang="en-US" sz="1200" dirty="0"/>
          </a:p>
        </p:txBody>
      </p:sp>
      <p:sp>
        <p:nvSpPr>
          <p:cNvPr id="9" name="look point 1"/>
          <p:cNvSpPr txBox="1"/>
          <p:nvPr/>
        </p:nvSpPr>
        <p:spPr>
          <a:xfrm>
            <a:off x="594360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Calmer design</a:t>
            </a:r>
            <a:endParaRPr lang="en-US" sz="1800" dirty="0"/>
          </a:p>
        </p:txBody>
      </p:sp>
      <p:sp>
        <p:nvSpPr>
          <p:cNvPr id="10" name="look detail 1"/>
          <p:cNvSpPr txBox="1"/>
          <p:nvPr/>
        </p:nvSpPr>
        <p:spPr>
          <a:xfrm>
            <a:off x="5943600" y="18288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Line icons instead of emoji, one accent colour, no glowing gradients</a:t>
            </a:r>
            <a:endParaRPr lang="en-US" sz="1500" dirty="0"/>
          </a:p>
        </p:txBody>
      </p:sp>
      <p:sp>
        <p:nvSpPr>
          <p:cNvPr id="11" name="look point 2"/>
          <p:cNvSpPr txBox="1"/>
          <p:nvPr/>
        </p:nvSpPr>
        <p:spPr>
          <a:xfrm>
            <a:off x="5943600" y="2606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Plainer words</a:t>
            </a:r>
            <a:endParaRPr lang="en-US" sz="1800" dirty="0"/>
          </a:p>
        </p:txBody>
      </p:sp>
      <p:sp>
        <p:nvSpPr>
          <p:cNvPr id="12" name="look detail 2"/>
          <p:cNvSpPr txBox="1"/>
          <p:nvPr/>
        </p:nvSpPr>
        <p:spPr>
          <a:xfrm>
            <a:off x="5943600" y="29718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“Ask the questions you can’t ask out loud. Real health workers answer — no names, no judgement.”</a:t>
            </a:r>
            <a:endParaRPr lang="en-US" sz="1500" dirty="0"/>
          </a:p>
        </p:txBody>
      </p:sp>
      <p:sp>
        <p:nvSpPr>
          <p:cNvPr id="13" name="look point 3"/>
          <p:cNvSpPr txBox="1"/>
          <p:nvPr/>
        </p:nvSpPr>
        <p:spPr>
          <a:xfrm>
            <a:off x="5943600" y="3749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Languages</a:t>
            </a:r>
            <a:endParaRPr lang="en-US" sz="1800" dirty="0"/>
          </a:p>
        </p:txBody>
      </p:sp>
      <p:sp>
        <p:nvSpPr>
          <p:cNvPr id="14" name="look detail 3"/>
          <p:cNvSpPr txBox="1"/>
          <p:nvPr/>
        </p:nvSpPr>
        <p:spPr>
          <a:xfrm>
            <a:off x="5943600" y="41148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English and Kiswahili core; Sheng optional. Leftover English-only text translated</a:t>
            </a:r>
            <a:endParaRPr lang="en-US" sz="1500" dirty="0"/>
          </a:p>
        </p:txBody>
      </p:sp>
      <p:sp>
        <p:nvSpPr>
          <p:cNvPr id="15" name="look point 4"/>
          <p:cNvSpPr txBox="1"/>
          <p:nvPr/>
        </p:nvSpPr>
        <p:spPr>
          <a:xfrm>
            <a:off x="5943600" y="4892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Real Sheng</a:t>
            </a:r>
            <a:endParaRPr lang="en-US" sz="1800" dirty="0"/>
          </a:p>
        </p:txBody>
      </p:sp>
      <p:sp>
        <p:nvSpPr>
          <p:cNvPr id="16" name="look detail 4"/>
          <p:cNvSpPr txBox="1"/>
          <p:nvPr/>
        </p:nvSpPr>
        <p:spPr>
          <a:xfrm>
            <a:off x="5943600" y="52578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drafts in Sheng are now written in Sheng, ready for a young person to check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tools for the team</a:t>
            </a:r>
            <a:endParaRPr lang="en-US" sz="3400" dirty="0"/>
          </a:p>
        </p:txBody>
      </p:sp>
      <p:sp>
        <p:nvSpPr>
          <p:cNvPr id="3" name="tool card 1"/>
          <p:cNvSpPr/>
          <p:nvPr/>
        </p:nvSpPr>
        <p:spPr>
          <a:xfrm>
            <a:off x="548640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ool 1 circle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tool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88566"/>
            <a:ext cx="309067" cy="309067"/>
          </a:xfrm>
          <a:prstGeom prst="rect">
            <a:avLst/>
          </a:prstGeom>
        </p:spPr>
      </p:pic>
      <p:sp>
        <p:nvSpPr>
          <p:cNvPr id="6" name="tool title 1"/>
          <p:cNvSpPr txBox="1"/>
          <p:nvPr/>
        </p:nvSpPr>
        <p:spPr>
          <a:xfrm>
            <a:off x="7772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Email on every question</a:t>
            </a:r>
            <a:endParaRPr lang="en-US" sz="1500" dirty="0"/>
          </a:p>
        </p:txBody>
      </p:sp>
      <p:sp>
        <p:nvSpPr>
          <p:cNvPr id="7" name="tool detail 1"/>
          <p:cNvSpPr txBox="1"/>
          <p:nvPr/>
        </p:nvSpPr>
        <p:spPr>
          <a:xfrm>
            <a:off x="777240" y="27157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With language, privacy and photo flags, and a link to the desk</a:t>
            </a:r>
            <a:endParaRPr lang="en-US" sz="1300" dirty="0"/>
          </a:p>
        </p:txBody>
      </p:sp>
      <p:sp>
        <p:nvSpPr>
          <p:cNvPr id="8" name="tool card 2"/>
          <p:cNvSpPr/>
          <p:nvPr/>
        </p:nvSpPr>
        <p:spPr>
          <a:xfrm>
            <a:off x="3364992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ool 2 circle"/>
          <p:cNvSpPr/>
          <p:nvPr/>
        </p:nvSpPr>
        <p:spPr>
          <a:xfrm>
            <a:off x="3593592" y="164592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tool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238" y="1788566"/>
            <a:ext cx="309067" cy="309067"/>
          </a:xfrm>
          <a:prstGeom prst="rect">
            <a:avLst/>
          </a:prstGeom>
        </p:spPr>
      </p:pic>
      <p:sp>
        <p:nvSpPr>
          <p:cNvPr id="11" name="tool title 2"/>
          <p:cNvSpPr txBox="1"/>
          <p:nvPr/>
        </p:nvSpPr>
        <p:spPr>
          <a:xfrm>
            <a:off x="3593592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AI drafting fixed</a:t>
            </a:r>
            <a:endParaRPr lang="en-US" sz="1500" dirty="0"/>
          </a:p>
        </p:txBody>
      </p:sp>
      <p:sp>
        <p:nvSpPr>
          <p:cNvPr id="12" name="tool detail 2"/>
          <p:cNvSpPr txBox="1"/>
          <p:nvPr/>
        </p:nvSpPr>
        <p:spPr>
          <a:xfrm>
            <a:off x="3593592" y="27157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Clearer answers to the exact question; errors now explained</a:t>
            </a:r>
            <a:endParaRPr lang="en-US" sz="1300" dirty="0"/>
          </a:p>
        </p:txBody>
      </p:sp>
      <p:sp>
        <p:nvSpPr>
          <p:cNvPr id="13" name="tool card 3"/>
          <p:cNvSpPr/>
          <p:nvPr/>
        </p:nvSpPr>
        <p:spPr>
          <a:xfrm>
            <a:off x="6181344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ool 3 circle"/>
          <p:cNvSpPr/>
          <p:nvPr/>
        </p:nvSpPr>
        <p:spPr>
          <a:xfrm>
            <a:off x="6409944" y="164592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tool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590" y="1788566"/>
            <a:ext cx="309067" cy="309067"/>
          </a:xfrm>
          <a:prstGeom prst="rect">
            <a:avLst/>
          </a:prstGeom>
        </p:spPr>
      </p:pic>
      <p:sp>
        <p:nvSpPr>
          <p:cNvPr id="16" name="tool title 3"/>
          <p:cNvSpPr txBox="1"/>
          <p:nvPr/>
        </p:nvSpPr>
        <p:spPr>
          <a:xfrm>
            <a:off x="6409944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Pop-up messages</a:t>
            </a:r>
            <a:endParaRPr lang="en-US" sz="1500" dirty="0"/>
          </a:p>
        </p:txBody>
      </p:sp>
      <p:sp>
        <p:nvSpPr>
          <p:cNvPr id="17" name="tool detail 3"/>
          <p:cNvSpPr txBox="1"/>
          <p:nvPr/>
        </p:nvSpPr>
        <p:spPr>
          <a:xfrm>
            <a:off x="6409944" y="27157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admin app shows successes and errors at last</a:t>
            </a:r>
            <a:endParaRPr lang="en-US" sz="1300" dirty="0"/>
          </a:p>
        </p:txBody>
      </p:sp>
      <p:sp>
        <p:nvSpPr>
          <p:cNvPr id="18" name="tool card 4"/>
          <p:cNvSpPr/>
          <p:nvPr/>
        </p:nvSpPr>
        <p:spPr>
          <a:xfrm>
            <a:off x="8997696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ool 4 circle"/>
          <p:cNvSpPr/>
          <p:nvPr/>
        </p:nvSpPr>
        <p:spPr>
          <a:xfrm>
            <a:off x="9226296" y="164592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tool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942" y="1788566"/>
            <a:ext cx="309067" cy="309067"/>
          </a:xfrm>
          <a:prstGeom prst="rect">
            <a:avLst/>
          </a:prstGeom>
        </p:spPr>
      </p:pic>
      <p:sp>
        <p:nvSpPr>
          <p:cNvPr id="21" name="tool title 4"/>
          <p:cNvSpPr txBox="1"/>
          <p:nvPr/>
        </p:nvSpPr>
        <p:spPr>
          <a:xfrm>
            <a:off x="9226296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Review published answers</a:t>
            </a:r>
            <a:endParaRPr lang="en-US" sz="1500" dirty="0"/>
          </a:p>
        </p:txBody>
      </p:sp>
      <p:sp>
        <p:nvSpPr>
          <p:cNvPr id="22" name="tool detail 4"/>
          <p:cNvSpPr txBox="1"/>
          <p:nvPr/>
        </p:nvSpPr>
        <p:spPr>
          <a:xfrm>
            <a:off x="9226296" y="27157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Fix wording in place or send back to the queue</a:t>
            </a:r>
            <a:endParaRPr lang="en-US" sz="1300" dirty="0"/>
          </a:p>
        </p:txBody>
      </p:sp>
      <p:sp>
        <p:nvSpPr>
          <p:cNvPr id="23" name="tool card 5"/>
          <p:cNvSpPr/>
          <p:nvPr/>
        </p:nvSpPr>
        <p:spPr>
          <a:xfrm>
            <a:off x="548640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ool 5 circle"/>
          <p:cNvSpPr/>
          <p:nvPr/>
        </p:nvSpPr>
        <p:spPr>
          <a:xfrm>
            <a:off x="777240" y="402336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tool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166006"/>
            <a:ext cx="309067" cy="309067"/>
          </a:xfrm>
          <a:prstGeom prst="rect">
            <a:avLst/>
          </a:prstGeom>
        </p:spPr>
      </p:pic>
      <p:sp>
        <p:nvSpPr>
          <p:cNvPr id="26" name="tool title 5"/>
          <p:cNvSpPr txBox="1"/>
          <p:nvPr/>
        </p:nvSpPr>
        <p:spPr>
          <a:xfrm>
            <a:off x="77724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Latest desk</a:t>
            </a:r>
            <a:endParaRPr lang="en-US" sz="1500" dirty="0"/>
          </a:p>
        </p:txBody>
      </p:sp>
      <p:sp>
        <p:nvSpPr>
          <p:cNvPr id="27" name="tool detail 5"/>
          <p:cNvSpPr txBox="1"/>
          <p:nvPr/>
        </p:nvSpPr>
        <p:spPr>
          <a:xfrm>
            <a:off x="777240" y="50932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Add, pin, translate updates; AI drafts from a pasted article</a:t>
            </a:r>
            <a:endParaRPr lang="en-US" sz="1300" dirty="0"/>
          </a:p>
        </p:txBody>
      </p:sp>
      <p:sp>
        <p:nvSpPr>
          <p:cNvPr id="28" name="tool card 6"/>
          <p:cNvSpPr/>
          <p:nvPr/>
        </p:nvSpPr>
        <p:spPr>
          <a:xfrm>
            <a:off x="3364992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ool 6 circle"/>
          <p:cNvSpPr/>
          <p:nvPr/>
        </p:nvSpPr>
        <p:spPr>
          <a:xfrm>
            <a:off x="3593592" y="402336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0" name="tool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6238" y="4166006"/>
            <a:ext cx="309067" cy="309067"/>
          </a:xfrm>
          <a:prstGeom prst="rect">
            <a:avLst/>
          </a:prstGeom>
        </p:spPr>
      </p:pic>
      <p:sp>
        <p:nvSpPr>
          <p:cNvPr id="31" name="tool title 6"/>
          <p:cNvSpPr txBox="1"/>
          <p:nvPr/>
        </p:nvSpPr>
        <p:spPr>
          <a:xfrm>
            <a:off x="3593592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Trending show / hide</a:t>
            </a:r>
            <a:endParaRPr lang="en-US" sz="1500" dirty="0"/>
          </a:p>
        </p:txBody>
      </p:sp>
      <p:sp>
        <p:nvSpPr>
          <p:cNvPr id="32" name="tool detail 6"/>
          <p:cNvSpPr txBox="1"/>
          <p:nvPr/>
        </p:nvSpPr>
        <p:spPr>
          <a:xfrm>
            <a:off x="3593592" y="50932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Decide which scanned items young people see</a:t>
            </a:r>
            <a:endParaRPr lang="en-US" sz="1300" dirty="0"/>
          </a:p>
        </p:txBody>
      </p:sp>
      <p:sp>
        <p:nvSpPr>
          <p:cNvPr id="33" name="tool card 7"/>
          <p:cNvSpPr/>
          <p:nvPr/>
        </p:nvSpPr>
        <p:spPr>
          <a:xfrm>
            <a:off x="6181344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ool 7 circle"/>
          <p:cNvSpPr/>
          <p:nvPr/>
        </p:nvSpPr>
        <p:spPr>
          <a:xfrm>
            <a:off x="6409944" y="402336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5" name="tool 7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2590" y="4166006"/>
            <a:ext cx="309067" cy="309067"/>
          </a:xfrm>
          <a:prstGeom prst="rect">
            <a:avLst/>
          </a:prstGeom>
        </p:spPr>
      </p:pic>
      <p:sp>
        <p:nvSpPr>
          <p:cNvPr id="36" name="tool title 7"/>
          <p:cNvSpPr txBox="1"/>
          <p:nvPr/>
        </p:nvSpPr>
        <p:spPr>
          <a:xfrm>
            <a:off x="6409944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Facilities editor</a:t>
            </a:r>
            <a:endParaRPr lang="en-US" sz="1500" dirty="0"/>
          </a:p>
        </p:txBody>
      </p:sp>
      <p:sp>
        <p:nvSpPr>
          <p:cNvPr id="37" name="tool detail 7"/>
          <p:cNvSpPr txBox="1"/>
          <p:nvPr/>
        </p:nvSpPr>
        <p:spPr>
          <a:xfrm>
            <a:off x="6409944" y="50932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Cost, hours, phone, ages, checked date</a:t>
            </a:r>
            <a:endParaRPr lang="en-US" sz="1300" dirty="0"/>
          </a:p>
        </p:txBody>
      </p:sp>
      <p:sp>
        <p:nvSpPr>
          <p:cNvPr id="38" name="tool card 8"/>
          <p:cNvSpPr/>
          <p:nvPr/>
        </p:nvSpPr>
        <p:spPr>
          <a:xfrm>
            <a:off x="8997696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ool 8 circle"/>
          <p:cNvSpPr/>
          <p:nvPr/>
        </p:nvSpPr>
        <p:spPr>
          <a:xfrm>
            <a:off x="9226296" y="402336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0" name="tool 8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8942" y="4166006"/>
            <a:ext cx="309067" cy="309067"/>
          </a:xfrm>
          <a:prstGeom prst="rect">
            <a:avLst/>
          </a:prstGeom>
        </p:spPr>
      </p:pic>
      <p:sp>
        <p:nvSpPr>
          <p:cNvPr id="41" name="tool title 8"/>
          <p:cNvSpPr txBox="1"/>
          <p:nvPr/>
        </p:nvSpPr>
        <p:spPr>
          <a:xfrm>
            <a:off x="9226296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Private photos</a:t>
            </a:r>
            <a:endParaRPr lang="en-US" sz="1500" dirty="0"/>
          </a:p>
        </p:txBody>
      </p:sp>
      <p:sp>
        <p:nvSpPr>
          <p:cNvPr id="42" name="tool detail 8"/>
          <p:cNvSpPr txBox="1"/>
          <p:nvPr/>
        </p:nvSpPr>
        <p:spPr>
          <a:xfrm>
            <a:off x="9226296" y="50932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Visible to admins only; deleted on answering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still needs people</a:t>
            </a:r>
            <a:endParaRPr lang="en-US" sz="3400" dirty="0"/>
          </a:p>
        </p:txBody>
      </p:sp>
      <p:sp>
        <p:nvSpPr>
          <p:cNvPr id="3" name="todo 1 circle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odo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36192"/>
            <a:ext cx="356616" cy="356616"/>
          </a:xfrm>
          <a:prstGeom prst="rect">
            <a:avLst/>
          </a:prstGeom>
        </p:spPr>
      </p:pic>
      <p:sp>
        <p:nvSpPr>
          <p:cNvPr id="5" name="todo title 1"/>
          <p:cNvSpPr txBox="1"/>
          <p:nvPr/>
        </p:nvSpPr>
        <p:spPr>
          <a:xfrm>
            <a:off x="1463040" y="13898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Sheng review</a:t>
            </a:r>
            <a:endParaRPr lang="en-US" sz="1900" dirty="0"/>
          </a:p>
        </p:txBody>
      </p:sp>
      <p:sp>
        <p:nvSpPr>
          <p:cNvPr id="6" name="todo detail 1"/>
          <p:cNvSpPr txBox="1"/>
          <p:nvPr/>
        </p:nvSpPr>
        <p:spPr>
          <a:xfrm>
            <a:off x="4297680" y="1408176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Young native speakers read the Sheng wording and any AI-drafted Sheng before publishing</a:t>
            </a:r>
            <a:endParaRPr lang="en-US" sz="1600" dirty="0"/>
          </a:p>
        </p:txBody>
      </p:sp>
      <p:sp>
        <p:nvSpPr>
          <p:cNvPr id="7" name="todo 2 circle"/>
          <p:cNvSpPr/>
          <p:nvPr/>
        </p:nvSpPr>
        <p:spPr>
          <a:xfrm>
            <a:off x="548640" y="23317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todo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96312"/>
            <a:ext cx="356616" cy="356616"/>
          </a:xfrm>
          <a:prstGeom prst="rect">
            <a:avLst/>
          </a:prstGeom>
        </p:spPr>
      </p:pic>
      <p:sp>
        <p:nvSpPr>
          <p:cNvPr id="9" name="todo title 2"/>
          <p:cNvSpPr txBox="1"/>
          <p:nvPr/>
        </p:nvSpPr>
        <p:spPr>
          <a:xfrm>
            <a:off x="1463040" y="2350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Verify facilities</a:t>
            </a:r>
            <a:endParaRPr lang="en-US" sz="1900" dirty="0"/>
          </a:p>
        </p:txBody>
      </p:sp>
      <p:sp>
        <p:nvSpPr>
          <p:cNvPr id="10" name="todo detail 2"/>
          <p:cNvSpPr txBox="1"/>
          <p:nvPr/>
        </p:nvSpPr>
        <p:spPr>
          <a:xfrm>
            <a:off x="4297680" y="2368296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Phone each of the 9 draft listings; confirm services, cost and hours; then show them</a:t>
            </a:r>
            <a:endParaRPr lang="en-US" sz="1600" dirty="0"/>
          </a:p>
        </p:txBody>
      </p:sp>
      <p:sp>
        <p:nvSpPr>
          <p:cNvPr id="11" name="todo 3 circle"/>
          <p:cNvSpPr/>
          <p:nvPr/>
        </p:nvSpPr>
        <p:spPr>
          <a:xfrm>
            <a:off x="548640" y="32918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todo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456432"/>
            <a:ext cx="356616" cy="356616"/>
          </a:xfrm>
          <a:prstGeom prst="rect">
            <a:avLst/>
          </a:prstGeom>
        </p:spPr>
      </p:pic>
      <p:sp>
        <p:nvSpPr>
          <p:cNvPr id="13" name="todo title 3"/>
          <p:cNvSpPr txBox="1"/>
          <p:nvPr/>
        </p:nvSpPr>
        <p:spPr>
          <a:xfrm>
            <a:off x="1463040" y="3310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Check the latest</a:t>
            </a:r>
            <a:endParaRPr lang="en-US" sz="1900" dirty="0"/>
          </a:p>
        </p:txBody>
      </p:sp>
      <p:sp>
        <p:nvSpPr>
          <p:cNvPr id="14" name="todo detail 3"/>
          <p:cNvSpPr txBox="1"/>
          <p:nvPr/>
        </p:nvSpPr>
        <p:spPr>
          <a:xfrm>
            <a:off x="4297680" y="3328416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Has the State appealed the May 2026 teen ruling? Lenacapavir cost and minimum age?</a:t>
            </a:r>
            <a:endParaRPr lang="en-US" sz="1600" dirty="0"/>
          </a:p>
        </p:txBody>
      </p:sp>
      <p:sp>
        <p:nvSpPr>
          <p:cNvPr id="15" name="todo 4 circle"/>
          <p:cNvSpPr/>
          <p:nvPr/>
        </p:nvSpPr>
        <p:spPr>
          <a:xfrm>
            <a:off x="548640" y="42519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todo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416552"/>
            <a:ext cx="356616" cy="356616"/>
          </a:xfrm>
          <a:prstGeom prst="rect">
            <a:avLst/>
          </a:prstGeom>
        </p:spPr>
      </p:pic>
      <p:sp>
        <p:nvSpPr>
          <p:cNvPr id="17" name="todo title 4"/>
          <p:cNvSpPr txBox="1"/>
          <p:nvPr/>
        </p:nvSpPr>
        <p:spPr>
          <a:xfrm>
            <a:off x="1463040" y="4270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Review answers</a:t>
            </a:r>
            <a:endParaRPr lang="en-US" sz="1900" dirty="0"/>
          </a:p>
        </p:txBody>
      </p:sp>
      <p:sp>
        <p:nvSpPr>
          <p:cNvPr id="18" name="todo detail 4"/>
          <p:cNvSpPr txBox="1"/>
          <p:nvPr/>
        </p:nvSpPr>
        <p:spPr>
          <a:xfrm>
            <a:off x="4297680" y="4288536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Work through published answers for relevance, grammar and tone</a:t>
            </a:r>
            <a:endParaRPr lang="en-US" sz="1600" dirty="0"/>
          </a:p>
        </p:txBody>
      </p:sp>
      <p:sp>
        <p:nvSpPr>
          <p:cNvPr id="19" name="todo 5 circle"/>
          <p:cNvSpPr/>
          <p:nvPr/>
        </p:nvSpPr>
        <p:spPr>
          <a:xfrm>
            <a:off x="548640" y="5212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todo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376672"/>
            <a:ext cx="356616" cy="356616"/>
          </a:xfrm>
          <a:prstGeom prst="rect">
            <a:avLst/>
          </a:prstGeom>
        </p:spPr>
      </p:pic>
      <p:sp>
        <p:nvSpPr>
          <p:cNvPr id="21" name="todo title 5"/>
          <p:cNvSpPr txBox="1"/>
          <p:nvPr/>
        </p:nvSpPr>
        <p:spPr>
          <a:xfrm>
            <a:off x="1463040" y="52303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Watch photos</a:t>
            </a:r>
            <a:endParaRPr lang="en-US" sz="1900" dirty="0"/>
          </a:p>
        </p:txBody>
      </p:sp>
      <p:sp>
        <p:nvSpPr>
          <p:cNvPr id="22" name="todo detail 5"/>
          <p:cNvSpPr txBox="1"/>
          <p:nvPr/>
        </p:nvSpPr>
        <p:spPr>
          <a:xfrm>
            <a:off x="4297680" y="5248656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Keep an eye on photo storage for misuse (3 MB cap per file)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arishaSRHR Midnight Slate">
  <a:themeElements>
    <a:clrScheme name="ImaarishaSRHR Midnight Slate">
      <a:dk1>
        <a:srgbClr val="111827"/>
      </a:dk1>
      <a:lt1>
        <a:srgbClr val="FFFFFF"/>
      </a:lt1>
      <a:dk2>
        <a:srgbClr val="1A2035"/>
      </a:dk2>
      <a:lt2>
        <a:srgbClr val="F3F4F8"/>
      </a:lt2>
      <a:accent1>
        <a:srgbClr val="E8B14B"/>
      </a:accent1>
      <a:accent2>
        <a:srgbClr val="2E7D4F"/>
      </a:accent2>
      <a:accent3>
        <a:srgbClr val="3FE0A0"/>
      </a:accent3>
      <a:accent4>
        <a:srgbClr val="8892B0"/>
      </a:accent4>
      <a:accent5>
        <a:srgbClr val="E2552F"/>
      </a:accent5>
      <a:accent6>
        <a:srgbClr val="2FD0C4"/>
      </a:accent6>
      <a:hlink>
        <a:srgbClr val="2D7FD6"/>
      </a:hlink>
      <a:folHlink>
        <a:srgbClr val="8B5CF6"/>
      </a:folHlink>
    </a:clrScheme>
    <a:fontScheme name="ImaarishaSRHR Midnight Sla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Community Media Trust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UkweliSRHR — what’s new in this build</dc:title>
  <dc:subject>PptxGenJS Presentation</dc:subject>
  <dc:creator>ImaarishaSRHR</dc:creator>
  <cp:lastModifiedBy>ImaarishaSRHR</cp:lastModifiedBy>
  <cp:revision>1</cp:revision>
  <dcterms:created xsi:type="dcterms:W3CDTF">2026-10-05T13:00:57Z</dcterms:created>
  <dcterms:modified xsi:type="dcterms:W3CDTF">2026-10-05T13:00:57Z</dcterms:modified>
</cp:coreProperties>
</file>